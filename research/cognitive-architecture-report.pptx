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Cognitive Architecture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认知架构与 ECOS 应用 — 过程汇报</a:t>
            </a:r>
          </a:p>
          <a:p>
            <a:pPr lvl="0" indent="0" marL="0">
              <a:buNone/>
            </a:pPr>
            <a:r>
              <a:rPr b="1"/>
              <a:t>汇报人</a:t>
            </a:r>
            <a:r>
              <a:rPr/>
              <a:t>：Bisen </a:t>
            </a:r>
            <a:r>
              <a:rPr b="1"/>
              <a:t>项目</a:t>
            </a:r>
            <a:r>
              <a:rPr/>
              <a:t>：ECOS (Educational Cognitive Operating System) </a:t>
            </a:r>
            <a:r>
              <a:rPr b="1"/>
              <a:t>日期</a:t>
            </a:r>
            <a:r>
              <a:rPr/>
              <a:t>：2026-07-01 </a:t>
            </a:r>
            <a:r>
              <a:rPr b="1"/>
              <a:t>对象</a:t>
            </a:r>
            <a:r>
              <a:rPr/>
              <a:t>：项目负责人</a:t>
            </a:r>
          </a:p>
          <a:p>
            <a:pPr lvl="0" indent="0" marL="1270000">
              <a:buNone/>
            </a:pPr>
            <a:r>
              <a:rPr sz="2000" i="1"/>
              <a:t>本文档已索引全部 research/ 与 wu-ecos/ 资料，可直接 </a:t>
            </a:r>
            <a:r>
              <a:rPr sz="2000" i="1">
                <a:latin typeface="Courier"/>
              </a:rPr>
              <a:t>pandoc</a:t>
            </a:r>
            <a:r>
              <a:rPr sz="2000" i="1"/>
              <a:t> 转 PPTX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汇报背景</a:t>
            </a:r>
          </a:p>
          <a:p>
            <a:pPr lvl="0"/>
            <a:r>
              <a:rPr b="1"/>
              <a:t>任务来源</a:t>
            </a:r>
            <a:r>
              <a:rPr/>
              <a:t>：项目负责人希望了解认知架构方面研究的阶段性进展</a:t>
            </a:r>
          </a:p>
          <a:p>
            <a:pPr lvl="0"/>
            <a:r>
              <a:rPr b="1"/>
              <a:t>进度素材</a:t>
            </a:r>
            <a:r>
              <a:rPr/>
              <a:t>：research/ 内 8 份思考文档 + wu-ecos/ 图集 + 2 份业务演示</a:t>
            </a:r>
          </a:p>
          <a:p>
            <a:pPr lvl="0"/>
            <a:r>
              <a:rPr b="1"/>
              <a:t>核心问题</a:t>
            </a:r>
            <a:r>
              <a:rPr/>
              <a:t>：</a:t>
            </a:r>
          </a:p>
          <a:p>
            <a:pPr lvl="1"/>
            <a:r>
              <a:rPr/>
              <a:t>理论走到哪里？（外部 / 内部多轮研判）</a:t>
            </a:r>
          </a:p>
          <a:p>
            <a:pPr lvl="1"/>
            <a:r>
              <a:rPr/>
              <a:t>工程切到哪里？（MVP 落地路径）</a:t>
            </a:r>
          </a:p>
          <a:p>
            <a:pPr lvl="1"/>
            <a:r>
              <a:rPr/>
              <a:t>市场需求对接何处？（学生场景演示）</a:t>
            </a:r>
          </a:p>
          <a:p>
            <a:pPr lvl="0"/>
            <a:r>
              <a:rPr b="1"/>
              <a:t>本汇报的一句话主张</a:t>
            </a:r>
            <a:r>
              <a:rPr/>
              <a:t>： &gt; </a:t>
            </a:r>
            <a:r>
              <a:rPr i="1"/>
              <a:t>真正重要的不是模块本身，而是模块之间的 </a:t>
            </a:r>
            <a:r>
              <a:rPr b="1" i="1"/>
              <a:t>Transformation</a:t>
            </a:r>
            <a:r>
              <a:rPr i="1"/>
              <a:t>（转换函数）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汇报大纲</a:t>
            </a:r>
          </a:p>
          <a:p>
            <a:pPr lvl="0" indent="-342900" marL="342900">
              <a:buAutoNum type="arabicPeriod"/>
            </a:pPr>
            <a:r>
              <a:rPr/>
              <a:t>课题定位 — 为什么做认知架构</a:t>
            </a:r>
          </a:p>
          <a:p>
            <a:pPr lvl="0" indent="-342900" marL="342900">
              <a:buAutoNum type="arabicPeriod"/>
            </a:pPr>
            <a:r>
              <a:rPr/>
              <a:t>理论演进 — 从 ECA 到 Transformation</a:t>
            </a:r>
          </a:p>
          <a:p>
            <a:pPr lvl="0" indent="-342900" marL="342900">
              <a:buAutoNum type="arabicPeriod"/>
            </a:pPr>
            <a:r>
              <a:rPr/>
              <a:t>关键转折 — 三层反思、四点共识</a:t>
            </a:r>
          </a:p>
          <a:p>
            <a:pPr lvl="0" indent="-342900" marL="342900">
              <a:buAutoNum type="arabicPeriod"/>
            </a:pPr>
            <a:r>
              <a:rPr/>
              <a:t>关键词 — Transformation 协议</a:t>
            </a:r>
          </a:p>
          <a:p>
            <a:pPr lvl="0" indent="-342900" marL="342900">
              <a:buAutoNum type="arabicPeriod"/>
            </a:pPr>
            <a:r>
              <a:rPr/>
              <a:t>MVP 切入点 — 从”模拟脑”到”压缩认知”</a:t>
            </a:r>
          </a:p>
          <a:p>
            <a:pPr lvl="0" indent="-342900" marL="342900">
              <a:buAutoNum type="arabicPeriod"/>
            </a:pPr>
            <a:r>
              <a:rPr/>
              <a:t>ECOS 现状 — 四张图、Cognitive Twin Agent</a:t>
            </a:r>
          </a:p>
          <a:p>
            <a:pPr lvl="0" indent="-342900" marL="342900">
              <a:buAutoNum type="arabicPeriod"/>
            </a:pPr>
            <a:r>
              <a:rPr/>
              <a:t>案例演示 — 初二学生 4 周 / 四年级分数</a:t>
            </a:r>
          </a:p>
          <a:p>
            <a:pPr lvl="0" indent="-342900" marL="342900">
              <a:buAutoNum type="arabicPeriod"/>
            </a:pPr>
            <a:r>
              <a:rPr/>
              <a:t>路线图 — Phase 1–4</a:t>
            </a:r>
          </a:p>
          <a:p>
            <a:pPr lvl="0" indent="-342900" marL="342900">
              <a:buAutoNum type="arabicPeriod"/>
            </a:pPr>
            <a:r>
              <a:rPr/>
              <a:t>当前进展与下一步</a:t>
            </a:r>
          </a:p>
          <a:p>
            <a:pPr lvl="0" indent="-342900" marL="342900">
              <a:buAutoNum type="arabicPeriod"/>
            </a:pPr>
            <a:r>
              <a:rPr/>
              <a:t>资源索引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一、为什么做认知架构（市场 / 工程 / 理论三重需要）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视角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现状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缺失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市场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 Agent 大量涌现，但”记忆”普遍停留在向量库 / JSON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长期跨会话认知演化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工程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LangChain / MCP / Letta 等解决单点问题（Prompt / Tool / Memory）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缺统一的 </a:t>
                      </a:r>
                      <a:r>
                        <a:rPr b="1"/>
                        <a:t>认知运行时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理论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ACT-R（30+ 年）/ SOAR（40+ 年）/ OpenCog（20+ 年）未成工业标准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缺一条”用工程可验证”的认知科学路径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ECOS 目标</a:t>
            </a:r>
            <a:r>
              <a:rPr sz="2000"/>
              <a:t>：在三者交集处建立 </a:t>
            </a:r>
            <a:r>
              <a:rPr sz="2000" i="1"/>
              <a:t>Cognitive Evolution Runtime</a:t>
            </a:r>
            <a:r>
              <a:rPr sz="2000"/>
              <a:t>，前 18 个月聚焦 </a:t>
            </a:r>
            <a:r>
              <a:rPr sz="2000">
                <a:latin typeface="Courier"/>
              </a:rPr>
              <a:t>Experience → Concept</a:t>
            </a:r>
            <a:r>
              <a:rPr sz="2000"/>
              <a:t> 单条转换链。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二、理论演进路线（4 份 GPT/Gemini 研判）</a:t>
            </a:r>
          </a:p>
          <a:p>
            <a:pPr lvl="0" indent="0">
              <a:buNone/>
            </a:pPr>
            <a:r>
              <a:rPr>
                <a:latin typeface="Courier"/>
              </a:rPr>
              <a:t>GPT v1          ──►   GPT v2        ──►   GPT v3          ──►   现在
"九层架构"            "ECA 仍          "不模拟整个人脑"
ECA 1.0               偏软件工程"        MVP = 3 个 Transformation
                       ↓                  ↓                  ↓
                    Gemini02           Cognition            ECOS
                    补充 CoALA         Pipeline02           MVP
                    Neuroca            八层反思              (现状)
                                       ↓
                                       从"分层" → "循环"
                                       从"模块" → "Transformation"</a:t>
            </a:r>
          </a:p>
          <a:p>
            <a:pPr lvl="0" indent="0" marL="1270000">
              <a:buNone/>
            </a:pPr>
            <a:r>
              <a:rPr sz="2000" b="1"/>
              <a:t>认知的本质不是存储信息，而是持续降低不确定性、提高预测能力，并在新经验到来时不断 Rewrite。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三、关键转折：三层反思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① 认知不是”层”，而是”循环”</a:t>
            </a:r>
          </a:p>
          <a:p>
            <a:pPr lvl="0"/>
            <a:r>
              <a:rPr/>
              <a:t>之前的 </a:t>
            </a:r>
            <a:r>
              <a:rPr>
                <a:latin typeface="Courier"/>
              </a:rPr>
              <a:t>Event → Memory → … → Metacognition</a:t>
            </a:r>
            <a:r>
              <a:rPr/>
              <a:t> 是数据库，不是大脑</a:t>
            </a:r>
          </a:p>
          <a:p>
            <a:pPr lvl="0"/>
            <a:r>
              <a:rPr/>
              <a:t>真正的 Pipeline 应该是 Evolution Loop，认知一直在 </a:t>
            </a:r>
            <a:r>
              <a:rPr b="1"/>
              <a:t>Rewrite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② Knowledge ≠ Memory 的升级</a:t>
            </a:r>
          </a:p>
          <a:p>
            <a:pPr lvl="0"/>
            <a:r>
              <a:rPr/>
              <a:t>Memory 答”发生了什么”，Knowledge 答”为什么”</a:t>
            </a:r>
          </a:p>
          <a:p>
            <a:pPr lvl="0"/>
            <a:r>
              <a:rPr/>
              <a:t>真实链路应为 </a:t>
            </a:r>
            <a:r>
              <a:rPr>
                <a:latin typeface="Courier"/>
              </a:rPr>
              <a:t>Experience → Memory → Rule Discovery → Knowledge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③ Concept 才是认知起点</a:t>
            </a:r>
          </a:p>
          <a:p>
            <a:pPr lvl="0"/>
            <a:r>
              <a:rPr/>
              <a:t>1000 条 </a:t>
            </a:r>
            <a:r>
              <a:rPr>
                <a:latin typeface="Courier"/>
              </a:rPr>
              <a:t>苹果 / 香蕉 / 梨</a:t>
            </a:r>
            <a:r>
              <a:rPr/>
              <a:t> → </a:t>
            </a:r>
            <a:r>
              <a:rPr>
                <a:latin typeface="Courier"/>
              </a:rPr>
              <a:t>水果</a:t>
            </a:r>
            <a:r>
              <a:rPr/>
              <a:t>：世界第一次被压缩</a:t>
            </a:r>
          </a:p>
          <a:p>
            <a:pPr lvl="0"/>
            <a:r>
              <a:rPr b="1"/>
              <a:t>认知 ≈ Entropy Reduction</a:t>
            </a:r>
            <a:r>
              <a:rPr/>
              <a:t>——这就是为什么 Memory Accuracy 不是优化目标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四、关键词：Transformation（认知转换函数）</a:t>
            </a:r>
          </a:p>
          <a:p>
            <a:pPr lvl="0" indent="0" marL="1270000">
              <a:buNone/>
            </a:pPr>
            <a:r>
              <a:rPr sz="2000"/>
              <a:t>所有项目都在研究 </a:t>
            </a:r>
            <a:r>
              <a:rPr sz="2000">
                <a:latin typeface="Courier"/>
              </a:rPr>
              <a:t>Memory / Knowledge / Planner</a:t>
            </a:r>
            <a:r>
              <a:rPr sz="2000"/>
              <a:t> 模块；真正缺失的是它们之间的 </a:t>
            </a:r>
            <a:r>
              <a:rPr sz="2000" b="1"/>
              <a:t>Transformation</a:t>
            </a:r>
            <a:r>
              <a:rPr sz="2000"/>
              <a:t>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转换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输出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Experience Encoding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Event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Experience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Memory Consolidation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Experience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Long Memory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Rule Mining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1000 Experiences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Knowledge Rule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Concept 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Knowledge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Concept Tree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Abstraction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Concept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Compressed Concept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Prediction Learning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Concept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Predictive Model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Meta Reflection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Everything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Rewrite Spec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真正需要原创的不是这些模块，而是它们之间的 Transformation Protocol。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五、MVP 切入点选择 — 认知压缩，不是认知模拟</a:t>
            </a:r>
          </a:p>
          <a:p>
            <a:pPr lvl="0" indent="0" marL="0">
              <a:buNone/>
            </a:pPr>
            <a:r>
              <a:rPr b="1"/>
              <a:t>过去的雄心</a:t>
            </a:r>
            <a:r>
              <a:rPr/>
              <a:t>：做一个完整认知架构（覆盖全部 Transformation）。</a:t>
            </a:r>
          </a:p>
          <a:p>
            <a:pPr lvl="0" indent="0" marL="0">
              <a:buNone/>
            </a:pPr>
            <a:r>
              <a:rPr b="1"/>
              <a:t>第三轮反思后的判断</a:t>
            </a:r>
            <a:r>
              <a:rPr/>
              <a:t>：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旧立场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新立场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范围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模拟整个脑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解决一个基础问题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能力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全部自研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只做 TRL ≥ 6 的部分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世界模型 / 元学习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必有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暂时拿掉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MVP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完整系统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 个 Transformation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Event → Experience → Concept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成功平台的共性</a:t>
            </a:r>
            <a:r>
              <a:rPr sz="2000"/>
              <a:t>：先解决一个基础问题（PyTorch→Tensor，LangChain→Prompt，MCP→Tool）。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六、ECOS 现状 — 四张图集（wu-ecos/）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┌─────────────────────┐         ┌─────────────────────┐
图1 →  │ BeliefState 坐标系   │ ⟵填充── │ 图4 达标状态 B       │
       │ (模板)              │         │ (Claude Skills)     │
       └──────────┬──────────┘         └──────────▲──────────┘
                  │ 描述                          │ 输出
       ┌──────────┴──────────┐         ┌──────────┴──────────┐
图2 →  │ 测量栈 L0–L5       │ ⟶实跑── │ 图3 测量轨迹        │
       │ (架构)             │         │ (Claude Skills)     │
       └─────────────────────┘         └─────────────────────┘</a:t>
            </a:r>
          </a:p>
          <a:p>
            <a:pPr lvl="0"/>
            <a:r>
              <a:rPr b="1"/>
              <a:t>图1 ↔ 图4</a:t>
            </a:r>
            <a:r>
              <a:rPr/>
              <a:t>：图4 是图1 坐标系的一次具体填充（达标快照）</a:t>
            </a:r>
          </a:p>
          <a:p>
            <a:pPr lvl="0"/>
            <a:r>
              <a:rPr b="1"/>
              <a:t>图2 ↔ 图3</a:t>
            </a:r>
            <a:r>
              <a:rPr/>
              <a:t>：图3 是图2 测量栈的一次具体实跑（conf 0.40 → 0.86）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六、ECOS 心智模型 — 状态 + 测量 = CTA</a:t>
            </a:r>
          </a:p>
        </p:txBody>
      </p:sp>
      <p:pic>
        <p:nvPicPr>
          <p:cNvPr descr="wu-ecos/ecos-cognitive-architecture-loo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71900" y="203200"/>
            <a:ext cx="46990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w:600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WHAT（状态表征）</a:t>
            </a:r>
            <a:r>
              <a:rPr/>
              <a:t> = </a:t>
            </a:r>
            <a:r>
              <a:rPr>
                <a:latin typeface="Courier"/>
              </a:rPr>
              <a:t>BeliefState</a:t>
            </a:r>
            <a:r>
              <a:rPr/>
              <a:t>：5D 资源 × Bloom 深度 × TC × 误概念</a:t>
            </a:r>
          </a:p>
          <a:p>
            <a:pPr lvl="0"/>
            <a:r>
              <a:rPr b="1"/>
              <a:t>HOW（测量栈）</a:t>
            </a:r>
            <a:r>
              <a:rPr/>
              <a:t> = CTA 的 L0–L5 数学栈：BKT / MIRT / DKT / CD-CAT</a:t>
            </a:r>
          </a:p>
          <a:p>
            <a:pPr lvl="0"/>
            <a:r>
              <a:rPr b="1"/>
              <a:t>CTA</a:t>
            </a:r>
            <a:r>
              <a:rPr/>
              <a:t> = Cognitive Twin Agent：用测量栈把行为反推成 BeliefState</a:t>
            </a:r>
          </a:p>
          <a:p>
            <a:pPr lvl="0" indent="0" marL="1270000">
              <a:buNone/>
            </a:pPr>
            <a:r>
              <a:rPr sz="2000" b="1"/>
              <a:t>LLM 只碰两端</a:t>
            </a:r>
            <a:r>
              <a:rPr sz="2000"/>
              <a:t>（感知层 / 解释层），数值估计全部交给数学栈——这就是 </a:t>
            </a:r>
            <a:r>
              <a:rPr sz="2000">
                <a:latin typeface="Courier"/>
              </a:rPr>
              <a:t>A→B</a:t>
            </a:r>
            <a:r>
              <a:rPr sz="2000"/>
              <a:t> 可信、可证伪的前提。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六、BeliefState 坐标系 — 一个认知状态由什么描述</a:t>
            </a:r>
          </a:p>
        </p:txBody>
      </p:sp>
      <p:pic>
        <p:nvPicPr>
          <p:cNvPr descr="wu-ecos/ecos-cognitive-state-beliefst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06400"/>
            <a:ext cx="51054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w:900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5D 资源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 (Knowledge) · P (Procedure) · S (Strategy) · C (Confidence) · X (eXperience)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6 阶 Bloom 深度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Remember → Understand → Apply → Analyze → Evaluate → Create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TC 阈值概念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触发质变的关键断言（如 “skill = 模型按 description 自主加载”）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Misconceptions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 个具体误概念（M1–M5），逐一清零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Genetic footprint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DNA + Trajectory，可追溯成长路径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完整状态 = 5 × 6 = 30 格网格</a:t>
            </a:r>
            <a:r>
              <a:rPr sz="2000"/>
              <a:t>，外加 TC、误概念、轨迹。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七、案例演示 1 — 初二学生小张 4 周完整流程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周次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经历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Runtime 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Concept 演化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W1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听讲 + 课内练习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是否压缩？否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W2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错题 + 反思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触发 Rule Miner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“辅助线是几何策略”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W3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单元测验 72 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触发 Concept Builder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“时间分配能力不足”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W4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跨题迁移成功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触发认知画像更新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“适合项目驱动学习”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u-ecos/ecos-measurement-trace-claude-skil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4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w:600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完整文档</a:t>
            </a:r>
            <a:r>
              <a:rPr sz="2000"/>
              <a:t>：</a:t>
            </a:r>
            <a:r>
              <a:rPr sz="2000">
                <a:latin typeface="Courier"/>
              </a:rPr>
              <a:t>research/2026-06-25-ecos-workflow-demo.md</a:t>
            </a:r>
            <a:r>
              <a:rPr sz="2000"/>
              <a:t>（842 行工程参考版）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七、案例演示 2 — 四年级”分数”学习之旅（家长友好版）</a:t>
            </a:r>
          </a:p>
          <a:p>
            <a:pPr lvl="0"/>
            <a:r>
              <a:rPr b="1"/>
              <a:t>情境</a:t>
            </a:r>
            <a:r>
              <a:rPr/>
              <a:t>：小明对”分数 = 两个整数”的直觉错误认识</a:t>
            </a:r>
          </a:p>
          <a:p>
            <a:pPr lvl="0"/>
            <a:r>
              <a:rPr b="1"/>
              <a:t>3 阶段干预</a:t>
            </a:r>
            <a:r>
              <a:rPr/>
              <a:t>：</a:t>
            </a:r>
          </a:p>
          <a:p>
            <a:pPr lvl="1"/>
            <a:r>
              <a:rPr/>
              <a:t>操作阶段：分饼 → 建立”等分”概念</a:t>
            </a:r>
          </a:p>
          <a:p>
            <a:pPr lvl="1"/>
            <a:r>
              <a:rPr/>
              <a:t>表达阶段：图像 → 语言 → 符号</a:t>
            </a:r>
          </a:p>
          <a:p>
            <a:pPr lvl="1"/>
            <a:r>
              <a:rPr/>
              <a:t>迁移阶段：1/2 + 1/3 ≠ 2/5 的反直觉发现</a:t>
            </a:r>
          </a:p>
          <a:p>
            <a:pPr lvl="0"/>
            <a:r>
              <a:rPr b="1"/>
              <a:t>Runtime 自动追踪</a:t>
            </a:r>
            <a:r>
              <a:rPr/>
              <a:t>：</a:t>
            </a:r>
          </a:p>
          <a:p>
            <a:pPr lvl="1"/>
            <a:r>
              <a:rPr/>
              <a:t>5D 中 K 与 P 的差异化上升</a:t>
            </a:r>
          </a:p>
          <a:p>
            <a:pPr lvl="1"/>
            <a:r>
              <a:rPr/>
              <a:t>Bloom 从 Remember → Understand 自动跨越</a:t>
            </a:r>
          </a:p>
          <a:p>
            <a:pPr lvl="1"/>
            <a:r>
              <a:rPr/>
              <a:t>M1 误概念（“分子分母独立”）从 0.78 → 0.05</a:t>
            </a:r>
          </a:p>
        </p:txBody>
      </p:sp>
      <p:pic>
        <p:nvPicPr>
          <p:cNvPr descr="wu-ecos/ecos-beliefstate-claude-skills-state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31800"/>
            <a:ext cx="5105400" cy="342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w:600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完整文档</a:t>
            </a:r>
            <a:r>
              <a:rPr sz="2000"/>
              <a:t>：</a:t>
            </a:r>
            <a:r>
              <a:rPr sz="2000">
                <a:latin typeface="Courier"/>
              </a:rPr>
              <a:t>research/05-user-friendly-demo.md</a:t>
            </a:r>
            <a:r>
              <a:rPr sz="2000"/>
              <a:t>（944 行面向家长/教师版）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八、路线图 — 4 个 Phase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/>
                <a:gridCol w="1181100"/>
                <a:gridCol w="11811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核心目标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是否原创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时间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Phase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Event → Experience → Memory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工程验证 / 集成为主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M1–M6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Phase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Experience → Rule → Concept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第一创新点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M7–M12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Phase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Concept → Cognitive Profile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第二创新点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M13–M18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Phase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Cognitive Runtime SDK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平台化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M19–M24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World Model 与 Meta-learning 暂时拿掉</a:t>
            </a:r>
            <a:r>
              <a:rPr sz="2000"/>
              <a:t> —— 它们对第一代产品既难验证、也难体现价值。 第一代产品的差异化 = </a:t>
            </a:r>
            <a:r>
              <a:rPr sz="2000" i="1"/>
              <a:t>系统能不能自动从经历中抽出越来越准确的概念，并形成可解释的认知画像</a:t>
            </a:r>
            <a:r>
              <a:rPr sz="2000"/>
              <a:t>。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九、当前进展与下一步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已完成（截至 2026-07）</a:t>
            </a:r>
          </a:p>
          <a:p>
            <a:pPr lvl="0"/>
            <a:r>
              <a:rPr/>
              <a:t>8 份 research/ 思考文档（PPT/Gemini 多轮研判）</a:t>
            </a:r>
          </a:p>
          <a:p>
            <a:pPr lvl="0"/>
            <a:r>
              <a:rPr/>
              <a:t>wu-ecos/ 4 张图 + 1 张架构总览（PNG + SVG 双版本）</a:t>
            </a:r>
          </a:p>
          <a:p>
            <a:pPr lvl="0"/>
            <a:r>
              <a:rPr/>
              <a:t>2 份业务演示（教师友好版 / 家长友好版）</a:t>
            </a:r>
          </a:p>
          <a:p>
            <a:pPr lvl="0"/>
            <a:r>
              <a:rPr/>
              <a:t>1 份 4 周 / 4 年级 双场景流程演示</a:t>
            </a:r>
          </a:p>
          <a:p>
            <a:pPr lvl="0"/>
            <a:r>
              <a:rPr/>
              <a:t>Transformation 协议的理论框架（七条 T1–T7）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下一步</a:t>
            </a:r>
          </a:p>
          <a:p>
            <a:pPr lvl="0" indent="-342900" marL="342900">
              <a:buAutoNum type="arabicPeriod"/>
            </a:pPr>
            <a:r>
              <a:rPr b="1"/>
              <a:t>MVP 编码</a:t>
            </a:r>
            <a:r>
              <a:rPr/>
              <a:t>：Phase 1 用 6 周工程验证 </a:t>
            </a:r>
            <a:r>
              <a:rPr>
                <a:latin typeface="Courier"/>
              </a:rPr>
              <a:t>Event → Memory</a:t>
            </a:r>
          </a:p>
          <a:p>
            <a:pPr lvl="0" indent="-342900" marL="342900">
              <a:buAutoNum type="arabicPeriod"/>
            </a:pPr>
            <a:r>
              <a:rPr b="1"/>
              <a:t>指标定义</a:t>
            </a:r>
            <a:r>
              <a:rPr/>
              <a:t>：每个 Transformation 配 1 个可验证指标（如 Concept 数 / Bloom 跨越率）</a:t>
            </a:r>
          </a:p>
          <a:p>
            <a:pPr lvl="0" indent="-342900" marL="342900">
              <a:buAutoNum type="arabicPeriod"/>
            </a:pPr>
            <a:r>
              <a:rPr b="1"/>
              <a:t>合作沟通</a:t>
            </a:r>
            <a:r>
              <a:rPr/>
              <a:t>：把这套框架与一家 K12 机构对接，做真实学生样本</a:t>
            </a:r>
          </a:p>
          <a:p>
            <a:pPr lvl="0" indent="-342900" marL="342900">
              <a:buAutoNum type="arabicPeriod"/>
            </a:pPr>
            <a:r>
              <a:rPr b="1"/>
              <a:t>对外发布</a:t>
            </a:r>
            <a:r>
              <a:rPr/>
              <a:t>：每月一份 concept evolution 报告，建立领域话语权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十、资源索引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思考脉络（research/）</a:t>
            </a:r>
          </a:p>
          <a:p>
            <a:pPr lvl="0"/>
            <a:r>
              <a:rPr>
                <a:latin typeface="Courier"/>
              </a:rPr>
              <a:t>Cognition-Pipeline-GPT.md</a:t>
            </a:r>
            <a:r>
              <a:rPr/>
              <a:t> — 第一轮认知流水线</a:t>
            </a:r>
          </a:p>
          <a:p>
            <a:pPr lvl="0"/>
            <a:r>
              <a:rPr>
                <a:latin typeface="Courier"/>
              </a:rPr>
              <a:t>Cognition-Pipeline-GPT02.md</a:t>
            </a:r>
            <a:r>
              <a:rPr/>
              <a:t> — 八层反思（从层到循环）</a:t>
            </a:r>
          </a:p>
          <a:p>
            <a:pPr lvl="0"/>
            <a:r>
              <a:rPr>
                <a:latin typeface="Courier"/>
              </a:rPr>
              <a:t>Cognition-Pipeline-GPT03.md</a:t>
            </a:r>
            <a:r>
              <a:rPr/>
              <a:t> — 三层九节 → MVP 落地</a:t>
            </a:r>
          </a:p>
          <a:p>
            <a:pPr lvl="0"/>
            <a:r>
              <a:rPr>
                <a:latin typeface="Courier"/>
              </a:rPr>
              <a:t>External-Cognitive-Architecture-GPT02.md</a:t>
            </a:r>
            <a:r>
              <a:rPr/>
              <a:t> — 对 Gemini 回答的研判</a:t>
            </a:r>
          </a:p>
          <a:p>
            <a:pPr lvl="0"/>
            <a:r>
              <a:rPr>
                <a:latin typeface="Courier"/>
              </a:rPr>
              <a:t>External-Cognitive-Architecture-Gemini02.md</a:t>
            </a:r>
            <a:r>
              <a:rPr/>
              <a:t> — Gemini 二次回应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业务演示（research/）</a:t>
            </a:r>
          </a:p>
          <a:p>
            <a:pPr lvl="0"/>
            <a:r>
              <a:rPr>
                <a:latin typeface="Courier"/>
              </a:rPr>
              <a:t>2026-06-25-ecos-workflow-demo.md</a:t>
            </a:r>
            <a:r>
              <a:rPr/>
              <a:t> — 初二学生 4 周完整学习流程</a:t>
            </a:r>
          </a:p>
          <a:p>
            <a:pPr lvl="0"/>
            <a:r>
              <a:rPr>
                <a:latin typeface="Courier"/>
              </a:rPr>
              <a:t>05-user-friendly-demo.md</a:t>
            </a:r>
            <a:r>
              <a:rPr/>
              <a:t> — 四年级”分数”学习之旅（家长/教师友好版）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架构图集（wu-ecos/）</a:t>
            </a:r>
          </a:p>
          <a:p>
            <a:pPr lvl="0"/>
            <a:r>
              <a:rPr/>
              <a:t>4 张 PNG + 1 份 README（认知坐标系 / 测量栈 / 实跑 / 达标 B）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生成 PPTX</a:t>
            </a:r>
          </a:p>
          <a:p>
            <a:pPr lvl="0" indent="0">
              <a:buNone/>
            </a:pPr>
            <a:r>
              <a:rPr>
                <a:latin typeface="Courier"/>
              </a:rPr>
              <a:t>pandoc cognitive-architecture-report-slides.md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report.pptx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项目</a:t>
            </a:r>
            <a:r>
              <a:rPr/>
              <a:t>：ECOS — Educational Cognitive Operating System </a:t>
            </a:r>
            <a:r>
              <a:rPr b="1"/>
              <a:t>核心主张</a:t>
            </a:r>
            <a:r>
              <a:rPr/>
              <a:t>：从”模块”到”Transformation”，从”模拟脑”到”压缩认知” </a:t>
            </a:r>
            <a:r>
              <a:rPr b="1"/>
              <a:t>下一步</a:t>
            </a:r>
            <a:r>
              <a:rPr/>
              <a:t>：6 周 MVP 工程验证 + K12 真实样本对接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2026-07-01T03:03:10Z</dcterms:created>
  <dcterms:modified xsi:type="dcterms:W3CDTF">2026-07-01T03:03:10Z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marp">
    <vt:lpwstr>True</vt:lpwstr>
  </property>
  <property fmtid="{D5CDD505-2E9C-101B-9397-08002B2CF9AE}" pid="4" name="paginate">
    <vt:lpwstr>True</vt:lpwstr>
  </property>
  <property fmtid="{D5CDD505-2E9C-101B-9397-08002B2CF9AE}" pid="5" name="style">
    <vt:lpwstr>section { font-family: -apple-system, “PingFang SC”, “Microsoft YaHei”, sans-serif; } section h1 { color: #1a4480; border-bottom: 3px solid #1a4480; padding-bottom: 0.3em; } section h2 { color: #1a4480; } section blockquote { border-left: 4px solid #6aa1d8; color: #444; } section table { font-size: 0.7em; } section img { max-height: 480px; } section small { color: #888; } .lead { text-align: center; } .lead h1 { border: none; }</vt:lpwstr>
  </property>
  <property fmtid="{D5CDD505-2E9C-101B-9397-08002B2CF9AE}" pid="6" name="theme">
    <vt:lpwstr>default</vt:lpwstr>
  </property>
</Properties>
</file>